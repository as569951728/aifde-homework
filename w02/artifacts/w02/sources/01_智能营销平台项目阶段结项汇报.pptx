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DD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75320" y="1828800"/>
            <a:ext cx="3108960" cy="3108960"/>
          </a:xfrm>
          <a:prstGeom prst="ellipse">
            <a:avLst/>
          </a:prstGeom>
          <a:solidFill>
            <a:srgbClr val="C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828800"/>
            <a:ext cx="310896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200" b="1">
                <a:solidFill>
                  <a:srgbClr val="009770"/>
                </a:solidFill>
                <a:latin typeface="Source Han Sans CN"/>
                <a:ea typeface="Source Han Sans CN"/>
              </a:rPr>
              <a:t>青禾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69037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303248"/>
                </a:solidFill>
                <a:latin typeface="Source Han Sans CN"/>
                <a:ea typeface="Source Han Sans CN"/>
              </a:rPr>
              <a:t>智能营销平台项目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303248"/>
                </a:solidFill>
                <a:latin typeface="Source Han Sans CN"/>
                <a:ea typeface="Source Han Sans CN"/>
              </a:rPr>
              <a:t>阶段结项汇报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794760"/>
            <a:ext cx="877824" cy="64008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06908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09770"/>
                </a:solidFill>
                <a:latin typeface="Source Han Sans CN"/>
                <a:ea typeface="Source Han Sans CN"/>
              </a:rPr>
              <a:t>青禾优选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846320"/>
            <a:ext cx="6492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67085"/>
                </a:solidFill>
                <a:latin typeface="Source Han Sans CN"/>
                <a:ea typeface="Source Han Sans CN"/>
              </a:rPr>
              <a:t>项目资料摘编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67085"/>
                </a:solidFill>
                <a:latin typeface="Source Han Sans CN"/>
                <a:ea typeface="Source Han Sans CN"/>
              </a:rPr>
              <a:t>教学虚构材料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67085"/>
                </a:solidFill>
                <a:latin typeface="Source Han Sans CN"/>
                <a:ea typeface="Source Han Sans CN"/>
              </a:rPr>
              <a:t>青禾优选｜模拟项目档案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510528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667085"/>
                </a:solidFill>
                <a:latin typeface="Source Han Sans CN"/>
                <a:ea typeface="Source Han Sans CN"/>
              </a:rP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303248"/>
                </a:solidFill>
                <a:latin typeface="Source Han Sans CN"/>
                <a:ea typeface="Source Han Sans CN"/>
              </a:rPr>
              <a:t>需求完善带动方案持续调整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731520" cy="54864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98982"/>
            <a:ext cx="11094415" cy="555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10" b="0">
                <a:solidFill>
                  <a:srgbClr val="303248"/>
                </a:solidFill>
                <a:latin typeface="Source Han Sans CN"/>
                <a:ea typeface="Source Han Sans CN"/>
              </a:rPr>
              <a:t>根据业务反馈持续调整需求，推动方案逐步完善。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31815"/>
            <a:ext cx="3450640" cy="7424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031815"/>
            <a:ext cx="3212896" cy="742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0" b="0">
                <a:solidFill>
                  <a:srgbClr val="303248"/>
                </a:solidFill>
                <a:latin typeface="Source Han Sans CN"/>
                <a:ea typeface="Source Han Sans CN"/>
              </a:rPr>
              <a:t>业务反馈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9280" y="3031815"/>
            <a:ext cx="371246" cy="742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30" b="1">
                <a:solidFill>
                  <a:srgbClr val="667085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527" y="3031815"/>
            <a:ext cx="3450640" cy="7424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399" y="3031815"/>
            <a:ext cx="3212896" cy="742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0" b="0">
                <a:solidFill>
                  <a:srgbClr val="303248"/>
                </a:solidFill>
                <a:latin typeface="Source Han Sans CN"/>
                <a:ea typeface="Source Han Sans CN"/>
              </a:rPr>
              <a:t>需求调整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1168" y="3031815"/>
            <a:ext cx="371246" cy="742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30" b="1">
                <a:solidFill>
                  <a:srgbClr val="667085"/>
                </a:solidFill>
                <a:latin typeface="Source Han Sans CN"/>
                <a:ea typeface="Source Han Sans CN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2414" y="3031815"/>
            <a:ext cx="3450640" cy="742492"/>
          </a:xfrm>
          <a:prstGeom prst="roundRect">
            <a:avLst>
              <a:gd name="adj" fmla="val 8000"/>
            </a:avLst>
          </a:prstGeom>
          <a:solidFill>
            <a:srgbClr val="DD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286" y="3031815"/>
            <a:ext cx="3212896" cy="742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0" b="1">
                <a:solidFill>
                  <a:srgbClr val="009770"/>
                </a:solidFill>
                <a:latin typeface="Source Han Sans CN"/>
                <a:ea typeface="Source Han Sans CN"/>
              </a:rPr>
              <a:t>方案完善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24776"/>
            <a:ext cx="64008" cy="578908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24776"/>
            <a:ext cx="10820095" cy="633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65" b="1">
                <a:solidFill>
                  <a:srgbClr val="009770"/>
                </a:solidFill>
                <a:latin typeface="Source Han Sans CN"/>
                <a:ea typeface="Source Han Sans CN"/>
              </a:rPr>
              <a:t>业务需求持续完善，系统方案随业务理解作相应调整。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67085"/>
                </a:solidFill>
                <a:latin typeface="Source Han Sans CN"/>
                <a:ea typeface="Source Han Sans CN"/>
              </a:rPr>
              <a:t>青禾优选｜模拟项目档案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510528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667085"/>
                </a:solidFill>
                <a:latin typeface="Source Han Sans CN"/>
                <a:ea typeface="Source Han Sans CN"/>
              </a:rP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303248"/>
                </a:solidFill>
                <a:latin typeface="Source Han Sans CN"/>
                <a:ea typeface="Source Han Sans CN"/>
              </a:rPr>
              <a:t>使用推广仍需业务协同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731520" cy="54864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26785"/>
            <a:ext cx="5467654" cy="12955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6114"/>
            <a:ext cx="5101894" cy="55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900" b="1">
                <a:solidFill>
                  <a:srgbClr val="303248"/>
                </a:solidFill>
                <a:latin typeface="Source Han Sans CN"/>
                <a:ea typeface="Source Han Sans CN"/>
              </a:rPr>
              <a:t>一线使用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20683"/>
            <a:ext cx="5101894" cy="500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10" b="0">
                <a:solidFill>
                  <a:srgbClr val="667085"/>
                </a:solidFill>
                <a:latin typeface="Source Han Sans CN"/>
                <a:ea typeface="Source Han Sans CN"/>
              </a:rPr>
              <a:t>日常使用仍需持续推进。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5400" y="2126785"/>
            <a:ext cx="5467654" cy="12955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8280" y="2246114"/>
            <a:ext cx="5101894" cy="55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900" b="1">
                <a:solidFill>
                  <a:srgbClr val="303248"/>
                </a:solidFill>
                <a:latin typeface="Source Han Sans CN"/>
                <a:ea typeface="Source Han Sans CN"/>
              </a:rPr>
              <a:t>操作方式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8280" y="2820683"/>
            <a:ext cx="5101894" cy="500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10" b="0">
                <a:solidFill>
                  <a:srgbClr val="667085"/>
                </a:solidFill>
                <a:latin typeface="Source Han Sans CN"/>
                <a:ea typeface="Source Han Sans CN"/>
              </a:rPr>
              <a:t>继续结合实际工作完善操作路径。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60627"/>
            <a:ext cx="64008" cy="634536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60627"/>
            <a:ext cx="10820095" cy="68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55" b="1">
                <a:solidFill>
                  <a:srgbClr val="009770"/>
                </a:solidFill>
                <a:latin typeface="Source Han Sans CN"/>
                <a:ea typeface="Source Han Sans CN"/>
              </a:rPr>
              <a:t>后续使用与完善持续推进。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67085"/>
                </a:solidFill>
                <a:latin typeface="Source Han Sans CN"/>
                <a:ea typeface="Source Han Sans CN"/>
              </a:rPr>
              <a:t>青禾优选｜模拟项目档案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510528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667085"/>
                </a:solidFill>
                <a:latin typeface="Source Han Sans CN"/>
                <a:ea typeface="Source Han Sans CN"/>
              </a:rP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303248"/>
                </a:solidFill>
                <a:latin typeface="Source Han Sans CN"/>
                <a:ea typeface="Source Han Sans CN"/>
              </a:rPr>
              <a:t>下一阶段围绕使用与效果持续完善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731520" cy="54864"/>
          </a:xfrm>
          <a:prstGeom prst="rect">
            <a:avLst/>
          </a:prstGeom>
          <a:solidFill>
            <a:srgbClr val="00C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70947"/>
          <a:ext cx="11094414" cy="224073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62659"/>
                <a:gridCol w="8431755"/>
              </a:tblGrid>
              <a:tr h="37124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1">
                          <a:solidFill>
                            <a:srgbClr val="FFFFFF"/>
                          </a:solidFill>
                          <a:latin typeface="Source Han Sans CN"/>
                          <a:ea typeface="Source Han Sans CN"/>
                        </a:rPr>
                        <a:t>方向</a:t>
                      </a:r>
                    </a:p>
                  </a:txBody>
                  <a:tcPr marL="91440" marR="91440" marT="27432" marB="27432" anchor="ctr">
                    <a:solidFill>
                      <a:srgbClr val="00977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1">
                          <a:solidFill>
                            <a:srgbClr val="FFFFFF"/>
                          </a:solidFill>
                          <a:latin typeface="Source Han Sans CN"/>
                          <a:ea typeface="Source Han Sans CN"/>
                        </a:rPr>
                        <a:t>后续工作</a:t>
                      </a:r>
                    </a:p>
                  </a:txBody>
                  <a:tcPr marL="91440" marR="91440" marT="27432" marB="27432" anchor="ctr">
                    <a:solidFill>
                      <a:srgbClr val="009770"/>
                    </a:solidFill>
                  </a:tcPr>
                </a:tc>
              </a:tr>
              <a:tr h="623163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1">
                          <a:solidFill>
                            <a:srgbClr val="303248"/>
                          </a:solidFill>
                          <a:latin typeface="Source Han Sans CN"/>
                          <a:ea typeface="Source Han Sans CN"/>
                        </a:rPr>
                        <a:t>操作路径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0">
                          <a:solidFill>
                            <a:srgbClr val="303248"/>
                          </a:solidFill>
                          <a:latin typeface="Source Han Sans CN"/>
                          <a:ea typeface="Source Han Sans CN"/>
                        </a:rPr>
                        <a:t>继续优化日常操作路径。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23163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1">
                          <a:solidFill>
                            <a:srgbClr val="303248"/>
                          </a:solidFill>
                          <a:latin typeface="Source Han Sans CN"/>
                          <a:ea typeface="Source Han Sans CN"/>
                        </a:rPr>
                        <a:t>业务使用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0">
                          <a:solidFill>
                            <a:srgbClr val="303248"/>
                          </a:solidFill>
                          <a:latin typeface="Source Han Sans CN"/>
                          <a:ea typeface="Source Han Sans CN"/>
                        </a:rPr>
                        <a:t>持续跟踪业务使用情况。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23163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1">
                          <a:solidFill>
                            <a:srgbClr val="303248"/>
                          </a:solidFill>
                          <a:latin typeface="Source Han Sans CN"/>
                          <a:ea typeface="Source Han Sans CN"/>
                        </a:rPr>
                        <a:t>效果观察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2465" b="0">
                          <a:solidFill>
                            <a:srgbClr val="303248"/>
                          </a:solidFill>
                          <a:latin typeface="Source Han Sans CN"/>
                          <a:ea typeface="Source Han Sans CN"/>
                        </a:rPr>
                        <a:t>结合运营工作观察效果。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11277"/>
            <a:ext cx="11094415" cy="374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67" b="0">
                <a:solidFill>
                  <a:srgbClr val="667085"/>
                </a:solidFill>
                <a:latin typeface="Source Han Sans CN"/>
                <a:ea typeface="Source Han Sans CN"/>
              </a:rPr>
              <a:t>以上为后续工作方向。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智能营销平台项目阶段结项汇报</dc:title>
  <dc:subject/>
  <dc:creator/>
  <cp:keywords/>
  <dc:description/>
  <cp:lastModifiedBy/>
  <cp:revision>1</cp:revision>
  <dcterms:created xsi:type="dcterms:W3CDTF">2026-09-16T00:00:00Z</dcterms:created>
  <dcterms:modified xsi:type="dcterms:W3CDTF">2026-09-16T00:00:00Z</dcterms:modified>
  <cp:category/>
</cp:coreProperties>
</file>